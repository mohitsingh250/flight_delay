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D0BE57-36B6-44F6-AC20-AD7DA75E747A}">
  <a:tblStyle styleId="{75D0BE57-36B6-44F6-AC20-AD7DA75E74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4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7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6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23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10" Type="http://schemas.openxmlformats.org/officeDocument/2006/relationships/image" Target="../media/image13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5676900"/>
            <a:ext cx="1082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" y="5676900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6950" y="54292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85800" y="53340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ADVANCED MACHINE LEARNING • PROJECT PRESENTATION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85800" y="2188964"/>
            <a:ext cx="9301162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Predicting Flight Delays the Night Before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85800" y="3606105"/>
            <a:ext cx="885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Leakage-free feature engineering, calibrated classifiers, and what-if rescheduling across 336k departures.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153650" y="533400"/>
            <a:ext cx="1690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NYC Air Corridor 2013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85800" y="5915025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FOCUS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85800" y="6124575"/>
            <a:ext cx="4476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Day-Ahead Operational Decision Boundary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886700" y="5953125"/>
            <a:ext cx="1419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886700" y="6143625"/>
            <a:ext cx="1419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EWR • JFK • LGA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363075" y="5953125"/>
            <a:ext cx="2678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363075" y="6143625"/>
            <a:ext cx="2678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 Regression • XGBoost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1966912"/>
            <a:ext cx="5257800" cy="1152525"/>
          </a:xfrm>
          <a:prstGeom prst="roundRect">
            <a:avLst>
              <a:gd fmla="val 99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3309937"/>
            <a:ext cx="5257800" cy="1152525"/>
          </a:xfrm>
          <a:prstGeom prst="roundRect">
            <a:avLst>
              <a:gd fmla="val 99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4652962"/>
            <a:ext cx="5257800" cy="1152525"/>
          </a:xfrm>
          <a:prstGeom prst="roundRect">
            <a:avLst>
              <a:gd fmla="val 99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790700"/>
            <a:ext cx="52578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790700"/>
            <a:ext cx="5257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/ OPERATIONAL CHALLENGE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Real-World Decision Boundary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7725" y="2205037"/>
            <a:ext cx="62757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Core Question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7725" y="2481262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 we reliably flag flights landing 15+ minutes late before operations begin tomorrow?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7725" y="3548062"/>
            <a:ext cx="62757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Common Pitfall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7725" y="3824287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Most academic benchmarks use departure delays (corr = 0.915) or live gate data. This leaks the future.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7725" y="4891087"/>
            <a:ext cx="62757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Strict Rule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7725" y="5167312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only published schedule metrics and prior-day history available by 23:59.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609600" y="60293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9600" y="2676525"/>
            <a:ext cx="3479750" cy="1857375"/>
          </a:xfrm>
          <a:prstGeom prst="roundRect">
            <a:avLst>
              <a:gd fmla="val 71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356050" y="2676525"/>
            <a:ext cx="3479750" cy="1857375"/>
          </a:xfrm>
          <a:prstGeom prst="roundRect">
            <a:avLst>
              <a:gd fmla="val 71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102500" y="2676525"/>
            <a:ext cx="3479750" cy="1857375"/>
          </a:xfrm>
          <a:prstGeom prst="roundRect">
            <a:avLst>
              <a:gd fmla="val 71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60293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/ EXPLORATORY DATA ANALYSIS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Delay Dynamics Across 336,776 Flights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61912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Note: 9,430 cancelled or diverted flights excluded from target training, but preserved for advance schedule congestion counts.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7725" y="2990850"/>
            <a:ext cx="375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10% → 37%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7725" y="3562350"/>
            <a:ext cx="39420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Cascade Effect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7725" y="3857625"/>
            <a:ext cx="309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Evening flights absorb cumulative aircraft rotation delays.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594175" y="2990850"/>
            <a:ext cx="375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0.40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594175" y="3562350"/>
            <a:ext cx="39420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Lag-1 Autocorrelation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594175" y="3857625"/>
            <a:ext cx="309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Disruption carries over to tomorrow, then drops sharply to 0.13.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40625" y="2990850"/>
            <a:ext cx="375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C2626"/>
                </a:solidFill>
                <a:latin typeface="Space Grotesk"/>
                <a:ea typeface="Space Grotesk"/>
                <a:cs typeface="Space Grotesk"/>
                <a:sym typeface="Space Grotesk"/>
              </a:rPr>
              <a:t>18% vs 34%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40625" y="3562350"/>
            <a:ext cx="385137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Severe Seasonality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40625" y="3857625"/>
            <a:ext cx="309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Fall months are peaceful; December winter peaks in disruption.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609600" y="5962650"/>
            <a:ext cx="10972800" cy="400050"/>
          </a:xfrm>
          <a:prstGeom prst="roundRect">
            <a:avLst>
              <a:gd fmla="val 1904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09600" y="2653754"/>
            <a:ext cx="2600325" cy="1836241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400425" y="2653754"/>
            <a:ext cx="2600325" cy="1836241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191250" y="2653754"/>
            <a:ext cx="2600325" cy="1836241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982075" y="2653754"/>
            <a:ext cx="2600325" cy="1836241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8918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28918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28918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28918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99665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9512" y="2996654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99665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/ FEATURE ENGINEERING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35 Engineered Clues Built Past-Only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0100" y="6076950"/>
            <a:ext cx="11391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Rule: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Month and Day-of-Year features were strictly removed to prevent tree models from memorizing specific calendar days.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47725" y="3406229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Calendar &amp; Cyclic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47725" y="36919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sin/cos time encodings, day of week, and holiday distance.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638550" y="3406229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Traffic &amp; Congestion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638550" y="36919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Scheduled departures per origin-day, hourly volume, and rotation leg.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429375" y="3406229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Smoothed History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429375" y="36919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Route, carrier, and aircraft past rates shrunk with Beta(m=20) prior.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9220200" y="3406229"/>
            <a:ext cx="278784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Test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9220200" y="36919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Verified: scrambling future outcomes does not alter past features.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609600" y="3929062"/>
            <a:ext cx="10972800" cy="10287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09600" y="2571750"/>
            <a:ext cx="7387083" cy="1009650"/>
          </a:xfrm>
          <a:prstGeom prst="roundRect">
            <a:avLst>
              <a:gd fmla="val 943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149083" y="2486025"/>
            <a:ext cx="1937891" cy="1181100"/>
          </a:xfrm>
          <a:prstGeom prst="roundRect">
            <a:avLst>
              <a:gd fmla="val 8064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10239375" y="2414587"/>
            <a:ext cx="1343025" cy="1323975"/>
          </a:xfrm>
          <a:prstGeom prst="roundRect">
            <a:avLst>
              <a:gd fmla="val 7194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/ EXPERIMENTAL DESIGN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 Chronological Evaluation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09600" y="61912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data peeking: all model parameters, thresholds, and calibrators were selected strictly on validation months.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47725" y="4129087"/>
            <a:ext cx="11344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Crucial Regularization Finding in XGBoost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47725" y="4386262"/>
            <a:ext cx="10591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default leaves, XGBoost memorized days via constant daily features. Setting min_child_weight = 2000 forced leaves to cover ≥8,000 flights (~9 days of NYC traffic), stopping memorization.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00100" y="2762250"/>
            <a:ext cx="875760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• TRAINING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00100" y="2943225"/>
            <a:ext cx="91954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January – September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00100" y="3219450"/>
            <a:ext cx="87576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F2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244,737 flights • Base delay rate: 25.0%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339583" y="2676525"/>
            <a:ext cx="1946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 • VALIDATION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339583" y="2857500"/>
            <a:ext cx="20434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Oct – Nov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339583" y="3133725"/>
            <a:ext cx="16521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55,589 flights • Rate: 17.8%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429875" y="2605087"/>
            <a:ext cx="1057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3 • TEST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429875" y="2928937"/>
            <a:ext cx="13101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December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0429875" y="3205162"/>
            <a:ext cx="10572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27,020 flights • Rate: 33.5%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609600" y="60293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09600" y="60293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09600" y="2376487"/>
            <a:ext cx="10972800" cy="3048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09600" y="3186112"/>
            <a:ext cx="10972800" cy="3048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09600" y="3995737"/>
            <a:ext cx="10972800" cy="3048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09600" y="4805362"/>
            <a:ext cx="10972800" cy="3048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09600" y="2376487"/>
            <a:ext cx="10270480" cy="304800"/>
          </a:xfrm>
          <a:prstGeom prst="roundRect">
            <a:avLst>
              <a:gd fmla="val 1875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09600" y="3186112"/>
            <a:ext cx="10116889" cy="304800"/>
          </a:xfrm>
          <a:prstGeom prst="roundRect">
            <a:avLst>
              <a:gd fmla="val 1875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09600" y="3995737"/>
            <a:ext cx="8361164" cy="304800"/>
          </a:xfrm>
          <a:prstGeom prst="roundRect">
            <a:avLst>
              <a:gd fmla="val 1875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09600" y="4805362"/>
            <a:ext cx="7351662" cy="304800"/>
          </a:xfrm>
          <a:prstGeom prst="roundRect">
            <a:avLst>
              <a:gd fmla="val 1875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/ MODEL DISCRIMINATION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Significant Uplift Above Baseline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09600" y="6191250"/>
            <a:ext cx="6536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Both classifiers outperform route history by +22% in PR-AUC on held-out December.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96075" y="6191250"/>
            <a:ext cx="5495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Unobservable day-level weather sets the upper ceiling on ROC-AUC (~0.65).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09600" y="2100262"/>
            <a:ext cx="30837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XGBoost (Selected Tuned Model)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010650" y="2100262"/>
            <a:ext cx="3181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PR-AUC: 0.468 | ROC-AUC: 0.645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09600" y="2909887"/>
            <a:ext cx="3333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 Regression (L2 Regularized)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039225" y="2909887"/>
            <a:ext cx="3152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PR-AUC: 0.461 | ROC-AUC: 0.640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09600" y="3719512"/>
            <a:ext cx="2071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History Baseline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048750" y="3719512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PR-AUC: 0.381 | ROC-AUC: 0.554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09600" y="4529137"/>
            <a:ext cx="22740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 Base Rate Guessing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8991600" y="4529137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PR-AUC: 0.335 | ROC-AUC: 0.500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/>
          <p:nvPr/>
        </p:nvSpPr>
        <p:spPr>
          <a:xfrm>
            <a:off x="609600" y="2552700"/>
            <a:ext cx="5572125" cy="2266950"/>
          </a:xfrm>
          <a:prstGeom prst="roundRect">
            <a:avLst>
              <a:gd fmla="val 67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638925" y="1843087"/>
            <a:ext cx="4943475" cy="1114425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638925" y="3128962"/>
            <a:ext cx="4943475" cy="1114425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638925" y="4414837"/>
            <a:ext cx="4943475" cy="1114425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/ OPERATIONAL DECISIONS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Enforcing High Precision Thresholds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09600" y="61912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Operating threshold fixed at 0.498 from validation metrics; applied cold to December test set.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23925" y="2905125"/>
            <a:ext cx="61793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66.1%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23925" y="3705225"/>
            <a:ext cx="6488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Validated Precision Target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23925" y="4067175"/>
            <a:ext cx="5038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XGBoost flags a flight as high risk, 2 out of 3 flights are genuinely delayed 15+ minutes.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877050" y="2081212"/>
            <a:ext cx="531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Precision Constraint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877050" y="2357437"/>
            <a:ext cx="45624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Airlines cannot afford high false alarms. Operating points required ≥50% precision on validation.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877050" y="3367087"/>
            <a:ext cx="531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Recall Trade-Off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877050" y="3643312"/>
            <a:ext cx="45624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 fixed calibration, recall was only 3.5% (flags 1.8% of flights) because December was severe.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877050" y="4652962"/>
            <a:ext cx="531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Actionable Scope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877050" y="4929187"/>
            <a:ext cx="45624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Enables high-conviction alerts for dispatchers rather than broad uncertain warnings.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609600" y="2409825"/>
            <a:ext cx="5314950" cy="2552700"/>
          </a:xfrm>
          <a:prstGeom prst="roundRect">
            <a:avLst>
              <a:gd fmla="val 5223" name="adj"/>
            </a:avLst>
          </a:prstGeom>
          <a:solidFill>
            <a:srgbClr val="FEF2F2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267450" y="2409825"/>
            <a:ext cx="5314950" cy="2552700"/>
          </a:xfrm>
          <a:prstGeom prst="roundRect">
            <a:avLst>
              <a:gd fmla="val 5223" name="adj"/>
            </a:avLst>
          </a:prstGeom>
          <a:solidFill>
            <a:srgbClr val="F0FDF4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85825" y="3952875"/>
            <a:ext cx="4762500" cy="9525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543675" y="3952875"/>
            <a:ext cx="4762500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/ RELIABILITY &amp; LABEL SHIFT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Solving the Seasonal Calibration Drift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09600" y="61912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takeaway: Risk models in seasonal transportation require rolling posterior recalibration.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85825" y="2686050"/>
            <a:ext cx="595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BREAKDOWN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85825" y="2933700"/>
            <a:ext cx="62507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Fixed Platt Scaling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85825" y="333375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Calibrators fitted on calm Oct-Nov (17.8% delays) systematically under-predicted stormy December (33.5%).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85825" y="4105275"/>
            <a:ext cx="4857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ECE: 0.102 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543675" y="2686050"/>
            <a:ext cx="5648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543675" y="2933700"/>
            <a:ext cx="5648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Rolling 28-Day Recalibration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543675" y="333375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Refitting daily on previous 4-week realized outcomes tracks environmental drift dynamically.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543675" y="4105275"/>
            <a:ext cx="4857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ECE: 0.047 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85825" y="4533900"/>
            <a:ext cx="5953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Mean predicted risk dropped to 23.4%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543675" y="4533900"/>
            <a:ext cx="5648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Halved calibration error; recall rose to 6.2%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609600" y="5695950"/>
            <a:ext cx="10972800" cy="66675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09600" y="2447925"/>
            <a:ext cx="10972800" cy="1981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21"/>
          <p:cNvGraphicFramePr/>
          <p:nvPr/>
        </p:nvGraphicFramePr>
        <p:xfrm>
          <a:off x="609600" y="244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{75D0BE57-36B6-44F6-AC20-AD7DA75E747A}</a:tableStyleId>
              </a:tblPr>
              <a:tblGrid>
                <a:gridCol w="2234650"/>
                <a:gridCol w="1969450"/>
                <a:gridCol w="1880000"/>
                <a:gridCol w="2570550"/>
                <a:gridCol w="2308625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 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Flagged Flights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Observed 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Moved (±2h)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 Before → After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 ≥ 0.40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5,750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47.4%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0.504 → 0.444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 ≥ 0.50 (Primary)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1,979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52.0%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133 (98 moved earlier)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0.571 → 0.510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 ≥ 0.60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473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55.6%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0.657 → 0.595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21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/ PRESCRIPTIVE SIMULATION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We Reschedule High-Risk Flights?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09625" y="585787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Simulation Takeaway: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Moving flights earlier (-2h) yields small risk reductions. However, systemic delay risk is anchored primarily to day-level conditions and route congestion rather than the departure hour alone.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6324600" y="2095500"/>
            <a:ext cx="5257800" cy="1009650"/>
          </a:xfrm>
          <a:prstGeom prst="roundRect">
            <a:avLst>
              <a:gd fmla="val 113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6324600" y="3276600"/>
            <a:ext cx="5257800" cy="1009650"/>
          </a:xfrm>
          <a:prstGeom prst="roundRect">
            <a:avLst>
              <a:gd fmla="val 113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324600" y="4457700"/>
            <a:ext cx="5257800" cy="1009650"/>
          </a:xfrm>
          <a:prstGeom prst="roundRect">
            <a:avLst>
              <a:gd fmla="val 113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81175"/>
            <a:ext cx="52578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781175"/>
            <a:ext cx="5257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 / CRITICAL ASSUMPTIONS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Boundaries &amp; Constraints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09600" y="61912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Acknowledging constraints strengthens experimental credibility during presentation defense.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524625" y="2295525"/>
            <a:ext cx="5667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Weather Data Cap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524625" y="2562225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Day-level storm systems explain core variance. Without day-ahead forecast ingestion, ROC-AUC caps at ~0.65.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524625" y="3476625"/>
            <a:ext cx="5667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Single-Year Corridor Scope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524625" y="3743325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NYC departures in 2013: inbound rotation legs into NYC remain unobserved.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524625" y="4657725"/>
            <a:ext cx="5667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Associational Rescheduling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524625" y="4924425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What-if re-timing ignores crew duty time limits, gate constraints, and passenger connection banks.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609600" y="2524125"/>
            <a:ext cx="2571750" cy="2324100"/>
          </a:xfrm>
          <a:prstGeom prst="roundRect">
            <a:avLst>
              <a:gd fmla="val 57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3409950" y="2633662"/>
            <a:ext cx="2571750" cy="2105025"/>
          </a:xfrm>
          <a:prstGeom prst="roundRect">
            <a:avLst>
              <a:gd fmla="val 63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210300" y="2633662"/>
            <a:ext cx="2571750" cy="2105025"/>
          </a:xfrm>
          <a:prstGeom prst="roundRect">
            <a:avLst>
              <a:gd fmla="val 63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9010650" y="2633662"/>
            <a:ext cx="2571750" cy="2105025"/>
          </a:xfrm>
          <a:prstGeom prst="roundRect">
            <a:avLst>
              <a:gd fmla="val 63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8003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8075" y="29098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29098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8775" y="29098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9146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62375" y="3024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2725" y="3024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39262" y="30241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/ CONCLUSION &amp; ROADMAP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1 Key Takeaways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09600" y="61912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code, models, and reproducible notebooks are cataloged on GitHub.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847725" y="3371850"/>
            <a:ext cx="23002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Zero-Leakage Soundness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47725" y="3886200"/>
            <a:ext cx="219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temporal split and automated leakage tests guarantee deployable, honest predictions.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3648075" y="3481387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Equivalence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3648075" y="3776662"/>
            <a:ext cx="219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LR (0.461) and XGBoost (0.468) perform similarly once boosting tree leaves are properly regularized.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448425" y="3481387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Recalibration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448425" y="3776662"/>
            <a:ext cx="219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rolling 28-day window overcomes seasonal base-rate shifts, cutting probability error in half.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9248775" y="3481387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 Direction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9248775" y="3776662"/>
            <a:ext cx="2190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step: Compact Multi-Layer Perceptron (MLP) learning entity embeddings for carriers and airports.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>
            <a:off x="4443412" y="4186237"/>
            <a:ext cx="3305175" cy="4286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6906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7887" y="1871662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0112" y="431482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4489549" y="2528887"/>
            <a:ext cx="321290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2047875" y="3309937"/>
            <a:ext cx="809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Day-ahead flight delay risk prediction with leakage-free features and rolling probability calibration.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4006453" y="4995862"/>
            <a:ext cx="4179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Repository: github.com/techatanu/Flight_Delay_Risk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4802981" y="4300537"/>
            <a:ext cx="2976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 for 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